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9" r:id="rId4"/>
    <p:sldId id="258" r:id="rId5"/>
    <p:sldId id="260" r:id="rId6"/>
    <p:sldId id="261" r:id="rId7"/>
    <p:sldId id="262" r:id="rId8"/>
    <p:sldId id="269" r:id="rId9"/>
    <p:sldId id="267" r:id="rId10"/>
    <p:sldId id="268" r:id="rId11"/>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9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TIKA KHARGE" userId="e6bcec48841f1b8f" providerId="LiveId" clId="{94DF9695-71E0-419E-BAF2-5DAA77177FF4}"/>
    <pc:docChg chg="undo custSel modSld">
      <pc:chgData name="KRITIKA KHARGE" userId="e6bcec48841f1b8f" providerId="LiveId" clId="{94DF9695-71E0-419E-BAF2-5DAA77177FF4}" dt="2026-07-28T07:00:06.937" v="744" actId="20577"/>
      <pc:docMkLst>
        <pc:docMk/>
      </pc:docMkLst>
      <pc:sldChg chg="modSp mod">
        <pc:chgData name="KRITIKA KHARGE" userId="e6bcec48841f1b8f" providerId="LiveId" clId="{94DF9695-71E0-419E-BAF2-5DAA77177FF4}" dt="2026-07-28T07:00:06.937" v="744" actId="20577"/>
        <pc:sldMkLst>
          <pc:docMk/>
          <pc:sldMk cId="0" sldId="256"/>
        </pc:sldMkLst>
        <pc:spChg chg="mod">
          <ac:chgData name="KRITIKA KHARGE" userId="e6bcec48841f1b8f" providerId="LiveId" clId="{94DF9695-71E0-419E-BAF2-5DAA77177FF4}" dt="2026-07-28T07:00:06.937" v="744" actId="20577"/>
          <ac:spMkLst>
            <pc:docMk/>
            <pc:sldMk cId="0" sldId="256"/>
            <ac:spMk id="2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sz="2000" b="1" i="0">
                <a:solidFill>
                  <a:srgbClr val="C0000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000" b="1" i="0">
                <a:solidFill>
                  <a:srgbClr val="C00000"/>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240942" y="364312"/>
            <a:ext cx="6662115" cy="514350"/>
          </a:xfrm>
          <a:prstGeom prst="rect">
            <a:avLst/>
          </a:prstGeom>
        </p:spPr>
        <p:txBody>
          <a:bodyPr wrap="square" lIns="0" tIns="0" rIns="0" bIns="0">
            <a:spAutoFit/>
          </a:bodyPr>
          <a:lstStyle>
            <a:lvl1pPr>
              <a:defRPr sz="3200" b="1" i="0">
                <a:solidFill>
                  <a:srgbClr val="C00000"/>
                </a:solidFill>
                <a:latin typeface="Times New Roman"/>
                <a:cs typeface="Times New Roman"/>
              </a:defRPr>
            </a:lvl1pPr>
          </a:lstStyle>
          <a:p>
            <a:endParaRPr/>
          </a:p>
        </p:txBody>
      </p:sp>
      <p:sp>
        <p:nvSpPr>
          <p:cNvPr id="3" name="Holder 3"/>
          <p:cNvSpPr>
            <a:spLocks noGrp="1"/>
          </p:cNvSpPr>
          <p:nvPr>
            <p:ph type="body" idx="1"/>
          </p:nvPr>
        </p:nvSpPr>
        <p:spPr>
          <a:xfrm>
            <a:off x="3541903" y="2263958"/>
            <a:ext cx="4881245" cy="1859914"/>
          </a:xfrm>
          <a:prstGeom prst="rect">
            <a:avLst/>
          </a:prstGeom>
        </p:spPr>
        <p:txBody>
          <a:bodyPr wrap="square" lIns="0" tIns="0" rIns="0" bIns="0">
            <a:spAutoFit/>
          </a:bodyPr>
          <a:lstStyle>
            <a:lvl1pPr>
              <a:defRPr sz="2000" b="1" i="0">
                <a:solidFill>
                  <a:srgbClr val="C00000"/>
                </a:solidFill>
                <a:latin typeface="Times New Roman"/>
                <a:cs typeface="Times New Roman"/>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7/28/2026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83233" y="68402"/>
            <a:ext cx="6176645" cy="452120"/>
          </a:xfrm>
          <a:prstGeom prst="rect">
            <a:avLst/>
          </a:prstGeom>
        </p:spPr>
        <p:txBody>
          <a:bodyPr vert="horz" wrap="square" lIns="0" tIns="12065" rIns="0" bIns="0" rtlCol="0">
            <a:spAutoFit/>
          </a:bodyPr>
          <a:lstStyle/>
          <a:p>
            <a:pPr marL="12700">
              <a:lnSpc>
                <a:spcPct val="100000"/>
              </a:lnSpc>
              <a:spcBef>
                <a:spcPts val="95"/>
              </a:spcBef>
            </a:pPr>
            <a:r>
              <a:rPr sz="2800" dirty="0">
                <a:solidFill>
                  <a:srgbClr val="001F5F"/>
                </a:solidFill>
              </a:rPr>
              <a:t>Jain</a:t>
            </a:r>
            <a:r>
              <a:rPr sz="2800" spc="-50" dirty="0">
                <a:solidFill>
                  <a:srgbClr val="001F5F"/>
                </a:solidFill>
              </a:rPr>
              <a:t> </a:t>
            </a:r>
            <a:r>
              <a:rPr sz="2800" dirty="0">
                <a:solidFill>
                  <a:srgbClr val="001F5F"/>
                </a:solidFill>
              </a:rPr>
              <a:t>College</a:t>
            </a:r>
            <a:r>
              <a:rPr sz="2800" spc="-40" dirty="0">
                <a:solidFill>
                  <a:srgbClr val="001F5F"/>
                </a:solidFill>
              </a:rPr>
              <a:t> </a:t>
            </a:r>
            <a:r>
              <a:rPr sz="2800" dirty="0">
                <a:solidFill>
                  <a:srgbClr val="001F5F"/>
                </a:solidFill>
              </a:rPr>
              <a:t>of</a:t>
            </a:r>
            <a:r>
              <a:rPr sz="2800" spc="-40" dirty="0">
                <a:solidFill>
                  <a:srgbClr val="001F5F"/>
                </a:solidFill>
              </a:rPr>
              <a:t> </a:t>
            </a:r>
            <a:r>
              <a:rPr sz="2800" dirty="0">
                <a:solidFill>
                  <a:srgbClr val="001F5F"/>
                </a:solidFill>
              </a:rPr>
              <a:t>Engineering</a:t>
            </a:r>
            <a:r>
              <a:rPr sz="2800" spc="-30" dirty="0">
                <a:solidFill>
                  <a:srgbClr val="001F5F"/>
                </a:solidFill>
              </a:rPr>
              <a:t> </a:t>
            </a:r>
            <a:r>
              <a:rPr sz="2800" dirty="0">
                <a:solidFill>
                  <a:srgbClr val="001F5F"/>
                </a:solidFill>
              </a:rPr>
              <a:t>&amp;</a:t>
            </a:r>
            <a:r>
              <a:rPr sz="2800" spc="-30" dirty="0">
                <a:solidFill>
                  <a:srgbClr val="001F5F"/>
                </a:solidFill>
              </a:rPr>
              <a:t> </a:t>
            </a:r>
            <a:r>
              <a:rPr sz="2800" spc="-10" dirty="0">
                <a:solidFill>
                  <a:srgbClr val="001F5F"/>
                </a:solidFill>
              </a:rPr>
              <a:t>Research,</a:t>
            </a:r>
            <a:endParaRPr sz="2800"/>
          </a:p>
        </p:txBody>
      </p:sp>
      <p:sp>
        <p:nvSpPr>
          <p:cNvPr id="3" name="object 3"/>
          <p:cNvSpPr txBox="1"/>
          <p:nvPr/>
        </p:nvSpPr>
        <p:spPr>
          <a:xfrm>
            <a:off x="2451354" y="499998"/>
            <a:ext cx="4239260" cy="1576705"/>
          </a:xfrm>
          <a:prstGeom prst="rect">
            <a:avLst/>
          </a:prstGeom>
        </p:spPr>
        <p:txBody>
          <a:bodyPr vert="horz" wrap="square" lIns="0" tIns="12700" rIns="0" bIns="0" rtlCol="0">
            <a:spAutoFit/>
          </a:bodyPr>
          <a:lstStyle/>
          <a:p>
            <a:pPr algn="ctr">
              <a:lnSpc>
                <a:spcPct val="100000"/>
              </a:lnSpc>
              <a:spcBef>
                <a:spcPts val="100"/>
              </a:spcBef>
            </a:pPr>
            <a:r>
              <a:rPr sz="1800" b="1" dirty="0">
                <a:solidFill>
                  <a:srgbClr val="001F5F"/>
                </a:solidFill>
                <a:latin typeface="Times New Roman"/>
                <a:cs typeface="Times New Roman"/>
              </a:rPr>
              <a:t>Udyambag, </a:t>
            </a:r>
            <a:r>
              <a:rPr sz="1800" b="1" spc="-10" dirty="0">
                <a:solidFill>
                  <a:srgbClr val="001F5F"/>
                </a:solidFill>
                <a:latin typeface="Times New Roman"/>
                <a:cs typeface="Times New Roman"/>
              </a:rPr>
              <a:t>Belagavi</a:t>
            </a:r>
            <a:endParaRPr sz="1800" dirty="0">
              <a:latin typeface="Times New Roman"/>
              <a:cs typeface="Times New Roman"/>
            </a:endParaRPr>
          </a:p>
          <a:p>
            <a:pPr marL="12065" marR="5080" algn="ctr">
              <a:lnSpc>
                <a:spcPts val="2080"/>
              </a:lnSpc>
              <a:spcBef>
                <a:spcPts val="135"/>
              </a:spcBef>
            </a:pPr>
            <a:r>
              <a:rPr sz="1800" b="1" dirty="0">
                <a:solidFill>
                  <a:srgbClr val="001F5F"/>
                </a:solidFill>
                <a:latin typeface="Times New Roman"/>
                <a:cs typeface="Times New Roman"/>
              </a:rPr>
              <a:t>NBA</a:t>
            </a:r>
            <a:r>
              <a:rPr sz="1800" b="1" spc="-195" dirty="0">
                <a:solidFill>
                  <a:srgbClr val="001F5F"/>
                </a:solidFill>
                <a:latin typeface="Times New Roman"/>
                <a:cs typeface="Times New Roman"/>
              </a:rPr>
              <a:t> </a:t>
            </a:r>
            <a:r>
              <a:rPr sz="1800" b="1" spc="-10" dirty="0">
                <a:solidFill>
                  <a:srgbClr val="001F5F"/>
                </a:solidFill>
                <a:latin typeface="Times New Roman"/>
                <a:cs typeface="Times New Roman"/>
              </a:rPr>
              <a:t>Accredited</a:t>
            </a:r>
            <a:r>
              <a:rPr sz="1800" b="1" spc="-40" dirty="0">
                <a:solidFill>
                  <a:srgbClr val="001F5F"/>
                </a:solidFill>
                <a:latin typeface="Times New Roman"/>
                <a:cs typeface="Times New Roman"/>
              </a:rPr>
              <a:t> </a:t>
            </a:r>
            <a:r>
              <a:rPr sz="1800" b="1" spc="-10" dirty="0">
                <a:solidFill>
                  <a:srgbClr val="001F5F"/>
                </a:solidFill>
                <a:latin typeface="Times New Roman"/>
                <a:cs typeface="Times New Roman"/>
              </a:rPr>
              <a:t>Programs:</a:t>
            </a:r>
            <a:r>
              <a:rPr sz="1800" b="1" spc="-15" dirty="0">
                <a:solidFill>
                  <a:srgbClr val="001F5F"/>
                </a:solidFill>
                <a:latin typeface="Times New Roman"/>
                <a:cs typeface="Times New Roman"/>
              </a:rPr>
              <a:t> </a:t>
            </a:r>
            <a:r>
              <a:rPr sz="1800" b="1" dirty="0">
                <a:solidFill>
                  <a:srgbClr val="001F5F"/>
                </a:solidFill>
                <a:latin typeface="Times New Roman"/>
                <a:cs typeface="Times New Roman"/>
              </a:rPr>
              <a:t>ECE</a:t>
            </a:r>
            <a:r>
              <a:rPr sz="1800" b="1" spc="-20" dirty="0">
                <a:solidFill>
                  <a:srgbClr val="001F5F"/>
                </a:solidFill>
                <a:latin typeface="Times New Roman"/>
                <a:cs typeface="Times New Roman"/>
              </a:rPr>
              <a:t> </a:t>
            </a:r>
            <a:r>
              <a:rPr sz="1800" b="1" dirty="0">
                <a:solidFill>
                  <a:srgbClr val="001F5F"/>
                </a:solidFill>
                <a:latin typeface="Times New Roman"/>
                <a:cs typeface="Times New Roman"/>
              </a:rPr>
              <a:t>&amp;</a:t>
            </a:r>
            <a:r>
              <a:rPr sz="1800" b="1" spc="-5" dirty="0">
                <a:solidFill>
                  <a:srgbClr val="001F5F"/>
                </a:solidFill>
                <a:latin typeface="Times New Roman"/>
                <a:cs typeface="Times New Roman"/>
              </a:rPr>
              <a:t> </a:t>
            </a:r>
            <a:r>
              <a:rPr sz="1800" b="1" spc="-20" dirty="0">
                <a:solidFill>
                  <a:srgbClr val="001F5F"/>
                </a:solidFill>
                <a:latin typeface="Times New Roman"/>
                <a:cs typeface="Times New Roman"/>
              </a:rPr>
              <a:t>MECH </a:t>
            </a:r>
            <a:r>
              <a:rPr sz="1800" b="1" dirty="0">
                <a:solidFill>
                  <a:srgbClr val="0070C0"/>
                </a:solidFill>
                <a:latin typeface="Times New Roman"/>
                <a:cs typeface="Times New Roman"/>
              </a:rPr>
              <a:t>Department</a:t>
            </a:r>
            <a:r>
              <a:rPr sz="1800" b="1" spc="-55" dirty="0">
                <a:solidFill>
                  <a:srgbClr val="0070C0"/>
                </a:solidFill>
                <a:latin typeface="Times New Roman"/>
                <a:cs typeface="Times New Roman"/>
              </a:rPr>
              <a:t> </a:t>
            </a:r>
            <a:r>
              <a:rPr sz="1800" b="1" dirty="0">
                <a:solidFill>
                  <a:srgbClr val="0070C0"/>
                </a:solidFill>
                <a:latin typeface="Times New Roman"/>
                <a:cs typeface="Times New Roman"/>
              </a:rPr>
              <a:t>of</a:t>
            </a:r>
            <a:r>
              <a:rPr sz="1800" b="1" spc="-110" dirty="0">
                <a:solidFill>
                  <a:srgbClr val="0070C0"/>
                </a:solidFill>
                <a:latin typeface="Times New Roman"/>
                <a:cs typeface="Times New Roman"/>
              </a:rPr>
              <a:t> </a:t>
            </a:r>
            <a:r>
              <a:rPr sz="1800" b="1" dirty="0">
                <a:solidFill>
                  <a:srgbClr val="0070C0"/>
                </a:solidFill>
                <a:latin typeface="Times New Roman"/>
                <a:cs typeface="Times New Roman"/>
              </a:rPr>
              <a:t>Applied</a:t>
            </a:r>
            <a:r>
              <a:rPr sz="1800" b="1" spc="-35" dirty="0">
                <a:solidFill>
                  <a:srgbClr val="0070C0"/>
                </a:solidFill>
                <a:latin typeface="Times New Roman"/>
                <a:cs typeface="Times New Roman"/>
              </a:rPr>
              <a:t> </a:t>
            </a:r>
            <a:r>
              <a:rPr sz="1800" b="1" spc="-10" dirty="0">
                <a:solidFill>
                  <a:srgbClr val="0070C0"/>
                </a:solidFill>
                <a:latin typeface="Times New Roman"/>
                <a:cs typeface="Times New Roman"/>
              </a:rPr>
              <a:t>Science</a:t>
            </a:r>
            <a:endParaRPr sz="1800" dirty="0">
              <a:solidFill>
                <a:srgbClr val="0070C0"/>
              </a:solidFill>
              <a:latin typeface="Times New Roman"/>
              <a:cs typeface="Times New Roman"/>
            </a:endParaRPr>
          </a:p>
          <a:p>
            <a:pPr marR="24765" algn="ctr">
              <a:lnSpc>
                <a:spcPts val="2360"/>
              </a:lnSpc>
              <a:spcBef>
                <a:spcPts val="550"/>
              </a:spcBef>
            </a:pPr>
            <a:r>
              <a:rPr sz="2000" b="1" spc="-20" dirty="0">
                <a:solidFill>
                  <a:schemeClr val="tx1"/>
                </a:solidFill>
                <a:latin typeface="Times New Roman"/>
                <a:cs typeface="Times New Roman"/>
              </a:rPr>
              <a:t>A</a:t>
            </a:r>
            <a:r>
              <a:rPr sz="2000" b="1" spc="-114" dirty="0">
                <a:solidFill>
                  <a:schemeClr val="tx1"/>
                </a:solidFill>
                <a:latin typeface="Times New Roman"/>
                <a:cs typeface="Times New Roman"/>
              </a:rPr>
              <a:t> </a:t>
            </a:r>
            <a:r>
              <a:rPr sz="2000" b="1" dirty="0">
                <a:solidFill>
                  <a:schemeClr val="tx1"/>
                </a:solidFill>
                <a:latin typeface="Times New Roman"/>
                <a:cs typeface="Times New Roman"/>
              </a:rPr>
              <a:t>Final</a:t>
            </a:r>
            <a:r>
              <a:rPr sz="2000" b="1" spc="-55" dirty="0">
                <a:solidFill>
                  <a:schemeClr val="tx1"/>
                </a:solidFill>
                <a:latin typeface="Times New Roman"/>
                <a:cs typeface="Times New Roman"/>
              </a:rPr>
              <a:t> </a:t>
            </a:r>
            <a:r>
              <a:rPr sz="2000" b="1" dirty="0">
                <a:solidFill>
                  <a:schemeClr val="tx1"/>
                </a:solidFill>
                <a:latin typeface="Times New Roman"/>
                <a:cs typeface="Times New Roman"/>
              </a:rPr>
              <a:t>Presentation</a:t>
            </a:r>
            <a:r>
              <a:rPr sz="2000" b="1" spc="-65" dirty="0">
                <a:solidFill>
                  <a:schemeClr val="tx1"/>
                </a:solidFill>
                <a:latin typeface="Times New Roman"/>
                <a:cs typeface="Times New Roman"/>
              </a:rPr>
              <a:t> </a:t>
            </a:r>
            <a:r>
              <a:rPr sz="2000" b="1" spc="-25" dirty="0">
                <a:solidFill>
                  <a:schemeClr val="tx1"/>
                </a:solidFill>
                <a:latin typeface="Times New Roman"/>
                <a:cs typeface="Times New Roman"/>
              </a:rPr>
              <a:t>on</a:t>
            </a:r>
            <a:endParaRPr sz="2000" dirty="0">
              <a:solidFill>
                <a:schemeClr val="tx1"/>
              </a:solidFill>
              <a:latin typeface="Times New Roman"/>
              <a:cs typeface="Times New Roman"/>
            </a:endParaRPr>
          </a:p>
          <a:p>
            <a:pPr marR="23495" algn="ctr">
              <a:lnSpc>
                <a:spcPts val="2840"/>
              </a:lnSpc>
            </a:pPr>
            <a:r>
              <a:rPr sz="2400" b="1" dirty="0">
                <a:solidFill>
                  <a:schemeClr val="tx1"/>
                </a:solidFill>
                <a:latin typeface="Times New Roman"/>
                <a:cs typeface="Times New Roman"/>
              </a:rPr>
              <a:t>“</a:t>
            </a:r>
            <a:r>
              <a:rPr lang="en-US" sz="2400" b="1" dirty="0">
                <a:solidFill>
                  <a:schemeClr val="tx1"/>
                </a:solidFill>
                <a:latin typeface="Times New Roman"/>
                <a:cs typeface="Times New Roman"/>
              </a:rPr>
              <a:t>AETHER LINK </a:t>
            </a:r>
            <a:r>
              <a:rPr sz="2400" b="1" spc="-10" dirty="0">
                <a:solidFill>
                  <a:schemeClr val="tx1"/>
                </a:solidFill>
                <a:latin typeface="Times New Roman"/>
                <a:cs typeface="Times New Roman"/>
              </a:rPr>
              <a:t>”</a:t>
            </a:r>
            <a:endParaRPr sz="2400" dirty="0">
              <a:solidFill>
                <a:schemeClr val="tx1"/>
              </a:solidFill>
              <a:latin typeface="Times New Roman"/>
              <a:cs typeface="Times New Roman"/>
            </a:endParaRPr>
          </a:p>
        </p:txBody>
      </p:sp>
      <p:sp>
        <p:nvSpPr>
          <p:cNvPr id="21" name="object 21"/>
          <p:cNvSpPr txBox="1"/>
          <p:nvPr/>
        </p:nvSpPr>
        <p:spPr>
          <a:xfrm>
            <a:off x="581658" y="2321814"/>
            <a:ext cx="1399541" cy="320601"/>
          </a:xfrm>
          <a:prstGeom prst="rect">
            <a:avLst/>
          </a:prstGeom>
        </p:spPr>
        <p:txBody>
          <a:bodyPr vert="horz" wrap="square" lIns="0" tIns="12700" rIns="0" bIns="0" rtlCol="0">
            <a:spAutoFit/>
          </a:bodyPr>
          <a:lstStyle/>
          <a:p>
            <a:pPr marL="12700">
              <a:lnSpc>
                <a:spcPct val="100000"/>
              </a:lnSpc>
              <a:spcBef>
                <a:spcPts val="100"/>
              </a:spcBef>
            </a:pPr>
            <a:r>
              <a:rPr sz="2000" b="1" spc="-35" dirty="0">
                <a:solidFill>
                  <a:srgbClr val="0070C0"/>
                </a:solidFill>
                <a:latin typeface="Times New Roman"/>
                <a:cs typeface="Times New Roman"/>
              </a:rPr>
              <a:t>Team</a:t>
            </a:r>
            <a:r>
              <a:rPr sz="2000" b="1" spc="-65" dirty="0">
                <a:solidFill>
                  <a:srgbClr val="0070C0"/>
                </a:solidFill>
                <a:latin typeface="Times New Roman"/>
                <a:cs typeface="Times New Roman"/>
              </a:rPr>
              <a:t> </a:t>
            </a:r>
            <a:r>
              <a:rPr sz="2000" b="1" spc="-20" dirty="0">
                <a:solidFill>
                  <a:srgbClr val="0070C0"/>
                </a:solidFill>
                <a:latin typeface="Times New Roman"/>
                <a:cs typeface="Times New Roman"/>
              </a:rPr>
              <a:t>No.:</a:t>
            </a:r>
            <a:r>
              <a:rPr lang="en-US" sz="2000" b="1" spc="-20" dirty="0">
                <a:solidFill>
                  <a:srgbClr val="0070C0"/>
                </a:solidFill>
                <a:latin typeface="Times New Roman"/>
                <a:cs typeface="Times New Roman"/>
              </a:rPr>
              <a:t>15</a:t>
            </a:r>
            <a:endParaRPr sz="2000" dirty="0">
              <a:solidFill>
                <a:srgbClr val="0070C0"/>
              </a:solidFill>
              <a:latin typeface="Times New Roman"/>
              <a:cs typeface="Times New Roman"/>
            </a:endParaRPr>
          </a:p>
        </p:txBody>
      </p:sp>
      <p:sp>
        <p:nvSpPr>
          <p:cNvPr id="22" name="object 22"/>
          <p:cNvSpPr txBox="1"/>
          <p:nvPr/>
        </p:nvSpPr>
        <p:spPr>
          <a:xfrm>
            <a:off x="586230" y="3029497"/>
            <a:ext cx="3833370" cy="1112292"/>
          </a:xfrm>
          <a:prstGeom prst="rect">
            <a:avLst/>
          </a:prstGeom>
        </p:spPr>
        <p:txBody>
          <a:bodyPr vert="horz" wrap="square" lIns="0" tIns="27305" rIns="0" bIns="0" rtlCol="0">
            <a:spAutoFit/>
          </a:bodyPr>
          <a:lstStyle/>
          <a:p>
            <a:pPr marL="12700" marR="5080" algn="just">
              <a:lnSpc>
                <a:spcPct val="115199"/>
              </a:lnSpc>
              <a:spcBef>
                <a:spcPts val="215"/>
              </a:spcBef>
            </a:pPr>
            <a:r>
              <a:rPr lang="en-US" sz="2000" b="1" spc="-25" dirty="0" err="1">
                <a:solidFill>
                  <a:schemeClr val="tx1"/>
                </a:solidFill>
                <a:latin typeface="Times New Roman"/>
                <a:cs typeface="Times New Roman"/>
              </a:rPr>
              <a:t>SpandanaLBhavi</a:t>
            </a:r>
            <a:r>
              <a:rPr sz="2000" b="1" spc="-25" dirty="0">
                <a:solidFill>
                  <a:schemeClr val="tx1"/>
                </a:solidFill>
                <a:latin typeface="Times New Roman"/>
                <a:cs typeface="Times New Roman"/>
              </a:rPr>
              <a:t> </a:t>
            </a:r>
            <a:r>
              <a:rPr sz="2000" b="1" spc="-10" dirty="0">
                <a:solidFill>
                  <a:schemeClr val="tx1"/>
                </a:solidFill>
                <a:latin typeface="Times New Roman"/>
                <a:cs typeface="Times New Roman"/>
              </a:rPr>
              <a:t>(</a:t>
            </a:r>
            <a:r>
              <a:rPr lang="en-US" sz="2000" b="1" spc="-10" dirty="0">
                <a:solidFill>
                  <a:schemeClr val="tx1"/>
                </a:solidFill>
                <a:latin typeface="Times New Roman"/>
                <a:cs typeface="Times New Roman"/>
              </a:rPr>
              <a:t>2JR25EC069</a:t>
            </a:r>
            <a:r>
              <a:rPr sz="2000" b="1" spc="-10" dirty="0">
                <a:solidFill>
                  <a:schemeClr val="tx1"/>
                </a:solidFill>
                <a:latin typeface="Times New Roman"/>
                <a:cs typeface="Times New Roman"/>
              </a:rPr>
              <a:t>) </a:t>
            </a:r>
            <a:endParaRPr lang="en-US" sz="2000" b="1" spc="-10" dirty="0">
              <a:solidFill>
                <a:schemeClr val="tx1"/>
              </a:solidFill>
              <a:latin typeface="Times New Roman"/>
              <a:cs typeface="Times New Roman"/>
            </a:endParaRPr>
          </a:p>
          <a:p>
            <a:pPr marL="12700" marR="5080" algn="just">
              <a:lnSpc>
                <a:spcPct val="115199"/>
              </a:lnSpc>
              <a:spcBef>
                <a:spcPts val="215"/>
              </a:spcBef>
            </a:pPr>
            <a:r>
              <a:rPr lang="en-US" sz="2000" b="1" spc="-30" dirty="0">
                <a:solidFill>
                  <a:schemeClr val="tx1"/>
                </a:solidFill>
                <a:latin typeface="Times New Roman"/>
                <a:cs typeface="Times New Roman"/>
              </a:rPr>
              <a:t>Kritika S Kharge </a:t>
            </a:r>
            <a:r>
              <a:rPr sz="2000" b="1" spc="-30" dirty="0">
                <a:solidFill>
                  <a:schemeClr val="tx1"/>
                </a:solidFill>
                <a:latin typeface="Times New Roman"/>
                <a:cs typeface="Times New Roman"/>
              </a:rPr>
              <a:t> </a:t>
            </a:r>
            <a:r>
              <a:rPr sz="2000" b="1" spc="-20" dirty="0">
                <a:solidFill>
                  <a:schemeClr val="tx1"/>
                </a:solidFill>
                <a:latin typeface="Times New Roman"/>
                <a:cs typeface="Times New Roman"/>
              </a:rPr>
              <a:t>(</a:t>
            </a:r>
            <a:r>
              <a:rPr lang="en-US" sz="2000" b="1" spc="-20" dirty="0">
                <a:solidFill>
                  <a:schemeClr val="tx1"/>
                </a:solidFill>
                <a:latin typeface="Times New Roman"/>
                <a:cs typeface="Times New Roman"/>
              </a:rPr>
              <a:t>2JR25EC032</a:t>
            </a:r>
            <a:r>
              <a:rPr sz="2000" b="1" spc="-20" dirty="0">
                <a:solidFill>
                  <a:schemeClr val="tx1"/>
                </a:solidFill>
                <a:latin typeface="Times New Roman"/>
                <a:cs typeface="Times New Roman"/>
              </a:rPr>
              <a:t>) </a:t>
            </a:r>
            <a:endParaRPr lang="en-US" sz="2000" b="1" spc="-20" dirty="0">
              <a:solidFill>
                <a:schemeClr val="tx1"/>
              </a:solidFill>
              <a:latin typeface="Times New Roman"/>
              <a:cs typeface="Times New Roman"/>
            </a:endParaRPr>
          </a:p>
          <a:p>
            <a:pPr marL="12700" marR="5080" algn="just">
              <a:lnSpc>
                <a:spcPct val="115199"/>
              </a:lnSpc>
              <a:spcBef>
                <a:spcPts val="215"/>
              </a:spcBef>
            </a:pPr>
            <a:r>
              <a:rPr lang="en-US" sz="2000" b="1" spc="-20" dirty="0">
                <a:solidFill>
                  <a:schemeClr val="tx1"/>
                </a:solidFill>
                <a:latin typeface="Times New Roman"/>
                <a:cs typeface="Times New Roman"/>
              </a:rPr>
              <a:t>Yashmita H </a:t>
            </a:r>
            <a:r>
              <a:rPr sz="2000" b="1" spc="-20" dirty="0">
                <a:solidFill>
                  <a:schemeClr val="tx1"/>
                </a:solidFill>
                <a:latin typeface="Times New Roman"/>
                <a:cs typeface="Times New Roman"/>
              </a:rPr>
              <a:t>(</a:t>
            </a:r>
            <a:r>
              <a:rPr lang="en-US" sz="2000" b="1" spc="-20" dirty="0">
                <a:solidFill>
                  <a:schemeClr val="tx1"/>
                </a:solidFill>
                <a:latin typeface="Times New Roman"/>
                <a:cs typeface="Times New Roman"/>
              </a:rPr>
              <a:t>2JR25EC090</a:t>
            </a:r>
            <a:r>
              <a:rPr sz="2000" b="1" spc="-20" dirty="0">
                <a:solidFill>
                  <a:schemeClr val="tx1"/>
                </a:solidFill>
                <a:latin typeface="Times New Roman"/>
                <a:cs typeface="Times New Roman"/>
              </a:rPr>
              <a:t>)</a:t>
            </a:r>
            <a:endParaRPr sz="2000" dirty="0">
              <a:solidFill>
                <a:schemeClr val="tx1"/>
              </a:solidFill>
              <a:latin typeface="Times New Roman"/>
              <a:cs typeface="Times New Roman"/>
            </a:endParaRPr>
          </a:p>
        </p:txBody>
      </p:sp>
      <p:sp>
        <p:nvSpPr>
          <p:cNvPr id="23" name="object 23"/>
          <p:cNvSpPr txBox="1">
            <a:spLocks noGrp="1"/>
          </p:cNvSpPr>
          <p:nvPr>
            <p:ph type="body" idx="1"/>
          </p:nvPr>
        </p:nvSpPr>
        <p:spPr>
          <a:xfrm>
            <a:off x="3352800" y="2263958"/>
            <a:ext cx="5334000" cy="1487395"/>
          </a:xfrm>
          <a:prstGeom prst="rect">
            <a:avLst/>
          </a:prstGeom>
        </p:spPr>
        <p:txBody>
          <a:bodyPr vert="horz" wrap="square" lIns="0" tIns="71120" rIns="0" bIns="0" rtlCol="0">
            <a:spAutoFit/>
          </a:bodyPr>
          <a:lstStyle/>
          <a:p>
            <a:pPr marR="284480" algn="ctr">
              <a:lnSpc>
                <a:spcPct val="100000"/>
              </a:lnSpc>
              <a:spcBef>
                <a:spcPts val="560"/>
              </a:spcBef>
            </a:pPr>
            <a:r>
              <a:rPr lang="en-US" spc="-10" dirty="0">
                <a:solidFill>
                  <a:srgbClr val="0070C0"/>
                </a:solidFill>
              </a:rPr>
              <a:t>                       </a:t>
            </a:r>
            <a:r>
              <a:rPr spc="-10" dirty="0">
                <a:solidFill>
                  <a:srgbClr val="0070C0"/>
                </a:solidFill>
              </a:rPr>
              <a:t>Guide:</a:t>
            </a:r>
            <a:r>
              <a:rPr lang="en-US" spc="-10" dirty="0">
                <a:solidFill>
                  <a:srgbClr val="0070C0"/>
                </a:solidFill>
              </a:rPr>
              <a:t>  Rajani Ma’am</a:t>
            </a:r>
            <a:endParaRPr spc="-10" dirty="0">
              <a:solidFill>
                <a:srgbClr val="0070C0"/>
              </a:solidFill>
            </a:endParaRPr>
          </a:p>
          <a:p>
            <a:pPr marR="2819400" algn="ctr">
              <a:lnSpc>
                <a:spcPct val="100000"/>
              </a:lnSpc>
              <a:spcBef>
                <a:spcPts val="495"/>
              </a:spcBef>
            </a:pPr>
            <a:r>
              <a:rPr sz="2200" spc="-70" dirty="0">
                <a:solidFill>
                  <a:schemeClr val="tx1"/>
                </a:solidFill>
              </a:rPr>
              <a:t>Team</a:t>
            </a:r>
            <a:r>
              <a:rPr sz="2200" spc="-75" dirty="0">
                <a:solidFill>
                  <a:schemeClr val="tx1"/>
                </a:solidFill>
              </a:rPr>
              <a:t> </a:t>
            </a:r>
            <a:r>
              <a:rPr sz="2200" spc="-10" dirty="0">
                <a:solidFill>
                  <a:schemeClr val="tx1"/>
                </a:solidFill>
              </a:rPr>
              <a:t>Associates:</a:t>
            </a:r>
            <a:endParaRPr sz="2200" dirty="0">
              <a:solidFill>
                <a:schemeClr val="tx1"/>
              </a:solidFill>
            </a:endParaRPr>
          </a:p>
          <a:p>
            <a:pPr marL="1945005" marR="5080" indent="-1270" algn="just">
              <a:lnSpc>
                <a:spcPct val="115199"/>
              </a:lnSpc>
              <a:spcBef>
                <a:spcPts val="150"/>
              </a:spcBef>
            </a:pPr>
            <a:r>
              <a:rPr lang="en-US" spc="-40" dirty="0" err="1">
                <a:solidFill>
                  <a:schemeClr val="tx1"/>
                </a:solidFill>
              </a:rPr>
              <a:t>Huriyabanu</a:t>
            </a:r>
            <a:r>
              <a:rPr lang="en-US" spc="-40" dirty="0">
                <a:solidFill>
                  <a:schemeClr val="tx1"/>
                </a:solidFill>
              </a:rPr>
              <a:t> G </a:t>
            </a:r>
            <a:r>
              <a:rPr spc="-20" dirty="0">
                <a:solidFill>
                  <a:schemeClr val="tx1"/>
                </a:solidFill>
              </a:rPr>
              <a:t>(</a:t>
            </a:r>
            <a:r>
              <a:rPr lang="en-US" spc="-20" dirty="0">
                <a:solidFill>
                  <a:schemeClr val="tx1"/>
                </a:solidFill>
              </a:rPr>
              <a:t>2JR25EC027</a:t>
            </a:r>
            <a:r>
              <a:rPr spc="-20" dirty="0">
                <a:solidFill>
                  <a:schemeClr val="tx1"/>
                </a:solidFill>
              </a:rPr>
              <a:t>) </a:t>
            </a:r>
            <a:r>
              <a:rPr lang="en-US" spc="-20" dirty="0" err="1">
                <a:solidFill>
                  <a:schemeClr val="tx1"/>
                </a:solidFill>
              </a:rPr>
              <a:t>BiBifatima</a:t>
            </a:r>
            <a:r>
              <a:rPr lang="en-US" spc="-20" dirty="0">
                <a:solidFill>
                  <a:schemeClr val="tx1"/>
                </a:solidFill>
              </a:rPr>
              <a:t> C  </a:t>
            </a:r>
            <a:r>
              <a:rPr lang="en-US" spc="-20">
                <a:solidFill>
                  <a:schemeClr val="tx1"/>
                </a:solidFill>
              </a:rPr>
              <a:t>(2JR25EC018</a:t>
            </a:r>
            <a:r>
              <a:rPr spc="-20">
                <a:solidFill>
                  <a:schemeClr val="tx1"/>
                </a:solidFill>
              </a:rPr>
              <a:t>) </a:t>
            </a:r>
            <a:endParaRPr spc="-20" dirty="0">
              <a:solidFill>
                <a:schemeClr val="tx1"/>
              </a:solidFill>
            </a:endParaRPr>
          </a:p>
        </p:txBody>
      </p:sp>
      <p:sp>
        <p:nvSpPr>
          <p:cNvPr id="24" name="object 24"/>
          <p:cNvSpPr txBox="1"/>
          <p:nvPr/>
        </p:nvSpPr>
        <p:spPr>
          <a:xfrm>
            <a:off x="1450594" y="4576368"/>
            <a:ext cx="6239510" cy="330835"/>
          </a:xfrm>
          <a:prstGeom prst="rect">
            <a:avLst/>
          </a:prstGeom>
        </p:spPr>
        <p:txBody>
          <a:bodyPr vert="horz" wrap="square" lIns="0" tIns="12700" rIns="0" bIns="0" rtlCol="0">
            <a:spAutoFit/>
          </a:bodyPr>
          <a:lstStyle/>
          <a:p>
            <a:pPr marL="12700">
              <a:lnSpc>
                <a:spcPct val="100000"/>
              </a:lnSpc>
              <a:spcBef>
                <a:spcPts val="100"/>
              </a:spcBef>
            </a:pPr>
            <a:r>
              <a:rPr sz="2000" b="1" dirty="0">
                <a:solidFill>
                  <a:srgbClr val="0070C0"/>
                </a:solidFill>
                <a:latin typeface="Times New Roman" panose="02020603050405020304" pitchFamily="18" charset="0"/>
                <a:cs typeface="Times New Roman" panose="02020603050405020304" pitchFamily="18" charset="0"/>
              </a:rPr>
              <a:t>Course:</a:t>
            </a:r>
            <a:r>
              <a:rPr sz="2000" b="1" spc="-5" dirty="0">
                <a:solidFill>
                  <a:srgbClr val="0070C0"/>
                </a:solidFill>
                <a:latin typeface="Times New Roman" panose="02020603050405020304" pitchFamily="18" charset="0"/>
                <a:cs typeface="Times New Roman" panose="02020603050405020304" pitchFamily="18" charset="0"/>
              </a:rPr>
              <a:t> </a:t>
            </a:r>
            <a:r>
              <a:rPr lang="en-IN" sz="2000" b="1" dirty="0">
                <a:solidFill>
                  <a:srgbClr val="0070C0"/>
                </a:solidFill>
                <a:latin typeface="Times New Roman" panose="02020603050405020304" pitchFamily="18" charset="0"/>
                <a:cs typeface="Times New Roman" panose="02020603050405020304" pitchFamily="18" charset="0"/>
              </a:rPr>
              <a:t>Interdisciplinary Project Work </a:t>
            </a:r>
            <a:r>
              <a:rPr sz="2000" b="1" spc="-10" dirty="0">
                <a:solidFill>
                  <a:srgbClr val="0070C0"/>
                </a:solidFill>
                <a:latin typeface="Times New Roman" panose="02020603050405020304" pitchFamily="18" charset="0"/>
                <a:cs typeface="Times New Roman" panose="02020603050405020304" pitchFamily="18" charset="0"/>
              </a:rPr>
              <a:t>(</a:t>
            </a:r>
            <a:r>
              <a:rPr lang="en-IN" sz="2000" b="1" dirty="0">
                <a:solidFill>
                  <a:srgbClr val="0070C0"/>
                </a:solidFill>
                <a:latin typeface="Times New Roman" panose="02020603050405020304" pitchFamily="18" charset="0"/>
                <a:cs typeface="Times New Roman" panose="02020603050405020304" pitchFamily="18" charset="0"/>
              </a:rPr>
              <a:t>1BPRJ258</a:t>
            </a:r>
            <a:r>
              <a:rPr sz="2000" b="1" spc="-10" dirty="0">
                <a:solidFill>
                  <a:srgbClr val="0070C0"/>
                </a:solidFill>
                <a:latin typeface="Times New Roman" panose="02020603050405020304" pitchFamily="18" charset="0"/>
                <a:cs typeface="Times New Roman" panose="02020603050405020304" pitchFamily="18" charset="0"/>
              </a:rPr>
              <a:t>)</a:t>
            </a:r>
            <a:endParaRPr sz="2000" b="1" dirty="0">
              <a:solidFill>
                <a:srgbClr val="0070C0"/>
              </a:solidFill>
              <a:latin typeface="Times New Roman" panose="02020603050405020304" pitchFamily="18" charset="0"/>
              <a:cs typeface="Times New Roman" panose="02020603050405020304" pitchFamily="18" charset="0"/>
            </a:endParaRPr>
          </a:p>
        </p:txBody>
      </p:sp>
      <p:pic>
        <p:nvPicPr>
          <p:cNvPr id="25" name="object 25" descr="images (1)"/>
          <p:cNvPicPr/>
          <p:nvPr/>
        </p:nvPicPr>
        <p:blipFill>
          <a:blip r:embed="rId2" cstate="print"/>
          <a:stretch>
            <a:fillRect/>
          </a:stretch>
        </p:blipFill>
        <p:spPr>
          <a:xfrm>
            <a:off x="7909432" y="65354"/>
            <a:ext cx="956221" cy="853236"/>
          </a:xfrm>
          <a:prstGeom prst="rect">
            <a:avLst/>
          </a:prstGeom>
        </p:spPr>
      </p:pic>
      <p:pic>
        <p:nvPicPr>
          <p:cNvPr id="26" name="object 26"/>
          <p:cNvPicPr/>
          <p:nvPr/>
        </p:nvPicPr>
        <p:blipFill>
          <a:blip r:embed="rId3" cstate="print"/>
          <a:stretch>
            <a:fillRect/>
          </a:stretch>
        </p:blipFill>
        <p:spPr>
          <a:xfrm>
            <a:off x="132054" y="66103"/>
            <a:ext cx="901090" cy="852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40942" y="236922"/>
            <a:ext cx="6662115" cy="514350"/>
          </a:xfrm>
          <a:prstGeom prst="rect">
            <a:avLst/>
          </a:prstGeom>
        </p:spPr>
        <p:txBody>
          <a:bodyPr vert="horz" wrap="square" lIns="0" tIns="13335" rIns="0" bIns="0" rtlCol="0">
            <a:spAutoFit/>
          </a:bodyPr>
          <a:lstStyle/>
          <a:p>
            <a:pPr marL="749935">
              <a:lnSpc>
                <a:spcPct val="100000"/>
              </a:lnSpc>
              <a:spcBef>
                <a:spcPts val="105"/>
              </a:spcBef>
            </a:pPr>
            <a:r>
              <a:rPr dirty="0">
                <a:solidFill>
                  <a:srgbClr val="002060"/>
                </a:solidFill>
              </a:rPr>
              <a:t>Introduction</a:t>
            </a:r>
            <a:r>
              <a:rPr spc="-60" dirty="0">
                <a:solidFill>
                  <a:srgbClr val="002060"/>
                </a:solidFill>
              </a:rPr>
              <a:t> </a:t>
            </a:r>
            <a:r>
              <a:rPr dirty="0">
                <a:solidFill>
                  <a:srgbClr val="002060"/>
                </a:solidFill>
              </a:rPr>
              <a:t>to</a:t>
            </a:r>
            <a:r>
              <a:rPr spc="-25" dirty="0">
                <a:solidFill>
                  <a:srgbClr val="002060"/>
                </a:solidFill>
              </a:rPr>
              <a:t> </a:t>
            </a:r>
            <a:r>
              <a:rPr spc="-10" dirty="0">
                <a:solidFill>
                  <a:srgbClr val="002060"/>
                </a:solidFill>
              </a:rPr>
              <a:t>Problem</a:t>
            </a:r>
            <a:r>
              <a:rPr spc="-190" dirty="0">
                <a:solidFill>
                  <a:srgbClr val="002060"/>
                </a:solidFill>
              </a:rPr>
              <a:t> </a:t>
            </a:r>
            <a:r>
              <a:rPr spc="-20" dirty="0">
                <a:solidFill>
                  <a:srgbClr val="002060"/>
                </a:solidFill>
              </a:rPr>
              <a:t>Area</a:t>
            </a:r>
          </a:p>
        </p:txBody>
      </p:sp>
      <p:sp>
        <p:nvSpPr>
          <p:cNvPr id="3" name="object 3"/>
          <p:cNvSpPr txBox="1"/>
          <p:nvPr/>
        </p:nvSpPr>
        <p:spPr>
          <a:xfrm>
            <a:off x="304799" y="590550"/>
            <a:ext cx="8534400" cy="4392228"/>
          </a:xfrm>
          <a:prstGeom prst="rect">
            <a:avLst/>
          </a:prstGeom>
        </p:spPr>
        <p:txBody>
          <a:bodyPr vert="horz" wrap="square" lIns="0" tIns="212090" rIns="0" bIns="0" rtlCol="0">
            <a:spAutoFit/>
          </a:bodyPr>
          <a:lstStyle/>
          <a:p>
            <a:pPr marL="355600" indent="-342900">
              <a:lnSpc>
                <a:spcPct val="100000"/>
              </a:lnSpc>
              <a:spcBef>
                <a:spcPts val="1670"/>
              </a:spcBef>
              <a:buFont typeface="Wingdings"/>
              <a:buChar char=""/>
              <a:tabLst>
                <a:tab pos="355600" algn="l"/>
              </a:tabLst>
            </a:pPr>
            <a:r>
              <a:rPr b="1" dirty="0">
                <a:latin typeface="Times New Roman" panose="02020603050405020304" pitchFamily="18" charset="0"/>
                <a:cs typeface="Times New Roman" panose="02020603050405020304" pitchFamily="18" charset="0"/>
              </a:rPr>
              <a:t>Brief</a:t>
            </a:r>
            <a:r>
              <a:rPr b="1" spc="-3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background</a:t>
            </a:r>
            <a:r>
              <a:rPr b="1" spc="-2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of</a:t>
            </a:r>
            <a:r>
              <a:rPr b="1" spc="-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chosen</a:t>
            </a:r>
            <a:r>
              <a:rPr b="1" spc="-20" dirty="0">
                <a:latin typeface="Times New Roman" panose="02020603050405020304" pitchFamily="18" charset="0"/>
                <a:cs typeface="Times New Roman" panose="02020603050405020304" pitchFamily="18" charset="0"/>
              </a:rPr>
              <a:t> </a:t>
            </a:r>
            <a:r>
              <a:rPr b="1" spc="-10" dirty="0">
                <a:latin typeface="Times New Roman" panose="02020603050405020304" pitchFamily="18" charset="0"/>
                <a:cs typeface="Times New Roman" panose="02020603050405020304" pitchFamily="18" charset="0"/>
              </a:rPr>
              <a:t>domain</a:t>
            </a:r>
            <a:endParaRPr lang="en-US" b="1" spc="-10" dirty="0">
              <a:latin typeface="Times New Roman" panose="02020603050405020304" pitchFamily="18" charset="0"/>
              <a:cs typeface="Times New Roman" panose="02020603050405020304" pitchFamily="18" charset="0"/>
            </a:endParaRPr>
          </a:p>
          <a:p>
            <a:pPr marL="12700">
              <a:lnSpc>
                <a:spcPct val="100000"/>
              </a:lnSpc>
              <a:spcBef>
                <a:spcPts val="1670"/>
              </a:spcBef>
              <a:tabLst>
                <a:tab pos="355600" algn="l"/>
              </a:tabLst>
            </a:pPr>
            <a:r>
              <a:rPr lang="en-US" sz="1600" dirty="0">
                <a:latin typeface="Times New Roman" panose="02020603050405020304" pitchFamily="18" charset="0"/>
                <a:cs typeface="Times New Roman" panose="02020603050405020304" pitchFamily="18" charset="0"/>
              </a:rPr>
              <a:t>Aether Link is a wireless communication system developed using LoRa and ESP32 technology. It is designed to send emergency messages over long distances without internet connectivity. The project focuses on reliable, low-power, and fast communication during critical situations.</a:t>
            </a:r>
            <a:endParaRPr lang="en-US" sz="1600" spc="-10" dirty="0">
              <a:latin typeface="Times New Roman" panose="02020603050405020304" pitchFamily="18" charset="0"/>
              <a:cs typeface="Times New Roman" panose="02020603050405020304" pitchFamily="18" charset="0"/>
            </a:endParaRPr>
          </a:p>
          <a:p>
            <a:pPr marL="355600" indent="-342900">
              <a:lnSpc>
                <a:spcPct val="100000"/>
              </a:lnSpc>
              <a:spcBef>
                <a:spcPts val="1575"/>
              </a:spcBef>
              <a:buFont typeface="Wingdings"/>
              <a:buChar char=""/>
              <a:tabLst>
                <a:tab pos="355600" algn="l"/>
              </a:tabLst>
            </a:pPr>
            <a:r>
              <a:rPr b="1" dirty="0">
                <a:latin typeface="Times New Roman" panose="02020603050405020304" pitchFamily="18" charset="0"/>
                <a:cs typeface="Times New Roman" panose="02020603050405020304" pitchFamily="18" charset="0"/>
              </a:rPr>
              <a:t>Why your</a:t>
            </a:r>
            <a:r>
              <a:rPr b="1" spc="-2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team</a:t>
            </a:r>
            <a:r>
              <a:rPr b="1" spc="-3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chose</a:t>
            </a:r>
            <a:r>
              <a:rPr b="1" spc="-2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this</a:t>
            </a:r>
            <a:r>
              <a:rPr b="1" spc="-40" dirty="0">
                <a:latin typeface="Times New Roman" panose="02020603050405020304" pitchFamily="18" charset="0"/>
                <a:cs typeface="Times New Roman" panose="02020603050405020304" pitchFamily="18" charset="0"/>
              </a:rPr>
              <a:t> </a:t>
            </a:r>
            <a:r>
              <a:rPr b="1" spc="-10" dirty="0">
                <a:latin typeface="Times New Roman" panose="02020603050405020304" pitchFamily="18" charset="0"/>
                <a:cs typeface="Times New Roman" panose="02020603050405020304" pitchFamily="18" charset="0"/>
              </a:rPr>
              <a:t>topic</a:t>
            </a:r>
            <a:endParaRPr lang="en-US" b="1" spc="-10" dirty="0">
              <a:latin typeface="Times New Roman" panose="02020603050405020304" pitchFamily="18" charset="0"/>
              <a:cs typeface="Times New Roman" panose="02020603050405020304" pitchFamily="18" charset="0"/>
            </a:endParaRPr>
          </a:p>
          <a:p>
            <a:pPr marL="12700">
              <a:lnSpc>
                <a:spcPct val="100000"/>
              </a:lnSpc>
              <a:spcBef>
                <a:spcPts val="1575"/>
              </a:spcBef>
              <a:tabLst>
                <a:tab pos="355600" algn="l"/>
              </a:tabLst>
            </a:pPr>
            <a:r>
              <a:rPr lang="en-US" sz="1600" dirty="0">
                <a:latin typeface="Times New Roman" panose="02020603050405020304" pitchFamily="18" charset="0"/>
                <a:cs typeface="Times New Roman" panose="02020603050405020304" pitchFamily="18" charset="0"/>
              </a:rPr>
              <a:t>Our team selected this project to create a useful solution for emergency communication. It helped us gain practical knowledge in IoT, embedded systems, and wireless networking. The idea is simple, innovative, and suitable for real-world applications.</a:t>
            </a:r>
            <a:endParaRPr sz="1400" dirty="0">
              <a:latin typeface="Times New Roman" panose="02020603050405020304" pitchFamily="18" charset="0"/>
              <a:cs typeface="Times New Roman" panose="02020603050405020304" pitchFamily="18" charset="0"/>
            </a:endParaRPr>
          </a:p>
          <a:p>
            <a:pPr marL="355600" indent="-342900">
              <a:lnSpc>
                <a:spcPct val="100000"/>
              </a:lnSpc>
              <a:spcBef>
                <a:spcPts val="1585"/>
              </a:spcBef>
              <a:buFont typeface="Wingdings"/>
              <a:buChar char=""/>
              <a:tabLst>
                <a:tab pos="355600" algn="l"/>
              </a:tabLst>
            </a:pPr>
            <a:r>
              <a:rPr b="1" dirty="0">
                <a:latin typeface="Times New Roman" panose="02020603050405020304" pitchFamily="18" charset="0"/>
                <a:cs typeface="Times New Roman" panose="02020603050405020304" pitchFamily="18" charset="0"/>
              </a:rPr>
              <a:t>Relevance</a:t>
            </a:r>
            <a:r>
              <a:rPr b="1" spc="-45"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to</a:t>
            </a:r>
            <a:r>
              <a:rPr b="1" spc="-2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social</a:t>
            </a:r>
            <a:r>
              <a:rPr b="1" spc="-3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or</a:t>
            </a:r>
            <a:r>
              <a:rPr b="1" spc="-10" dirty="0">
                <a:latin typeface="Times New Roman" panose="02020603050405020304" pitchFamily="18" charset="0"/>
                <a:cs typeface="Times New Roman" panose="02020603050405020304" pitchFamily="18" charset="0"/>
              </a:rPr>
              <a:t> </a:t>
            </a:r>
            <a:r>
              <a:rPr b="1" dirty="0">
                <a:latin typeface="Times New Roman" panose="02020603050405020304" pitchFamily="18" charset="0"/>
                <a:cs typeface="Times New Roman" panose="02020603050405020304" pitchFamily="18" charset="0"/>
              </a:rPr>
              <a:t>community</a:t>
            </a:r>
            <a:r>
              <a:rPr b="1" spc="-5" dirty="0">
                <a:latin typeface="Times New Roman" panose="02020603050405020304" pitchFamily="18" charset="0"/>
                <a:cs typeface="Times New Roman" panose="02020603050405020304" pitchFamily="18" charset="0"/>
              </a:rPr>
              <a:t> </a:t>
            </a:r>
            <a:r>
              <a:rPr b="1" spc="-10" dirty="0">
                <a:latin typeface="Times New Roman" panose="02020603050405020304" pitchFamily="18" charset="0"/>
                <a:cs typeface="Times New Roman" panose="02020603050405020304" pitchFamily="18" charset="0"/>
              </a:rPr>
              <a:t>needs</a:t>
            </a:r>
            <a:endParaRPr lang="en-US" b="1" spc="-10" dirty="0">
              <a:latin typeface="Times New Roman" panose="02020603050405020304" pitchFamily="18" charset="0"/>
              <a:cs typeface="Times New Roman" panose="02020603050405020304" pitchFamily="18" charset="0"/>
            </a:endParaRPr>
          </a:p>
          <a:p>
            <a:pPr marL="12700">
              <a:lnSpc>
                <a:spcPct val="100000"/>
              </a:lnSpc>
              <a:spcBef>
                <a:spcPts val="1585"/>
              </a:spcBef>
              <a:tabLst>
                <a:tab pos="355600" algn="l"/>
              </a:tabLst>
            </a:pPr>
            <a:r>
              <a:rPr lang="en-US" sz="1600" dirty="0">
                <a:latin typeface="Times New Roman" panose="02020603050405020304" pitchFamily="18" charset="0"/>
                <a:cs typeface="Times New Roman" panose="02020603050405020304" pitchFamily="18" charset="0"/>
              </a:rPr>
              <a:t>Aether Link can help people send emergency alerts quickly during accidents or disasters. It is especially useful in remote areas where mobile networks are unavailable. The project improves communication safety and supports faster emergency response.</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164742" y="516712"/>
            <a:ext cx="6662115" cy="514350"/>
          </a:xfrm>
          <a:prstGeom prst="rect">
            <a:avLst/>
          </a:prstGeom>
        </p:spPr>
        <p:txBody>
          <a:bodyPr vert="horz" wrap="square" lIns="0" tIns="13335" rIns="0" bIns="0" rtlCol="0">
            <a:spAutoFit/>
          </a:bodyPr>
          <a:lstStyle/>
          <a:p>
            <a:pPr marL="727075" algn="ctr">
              <a:lnSpc>
                <a:spcPct val="100000"/>
              </a:lnSpc>
              <a:spcBef>
                <a:spcPts val="105"/>
              </a:spcBef>
            </a:pPr>
            <a:r>
              <a:rPr lang="en-US" dirty="0">
                <a:solidFill>
                  <a:srgbClr val="002060"/>
                </a:solidFill>
              </a:rPr>
              <a:t>Literature Survey</a:t>
            </a:r>
            <a:endParaRPr spc="-10" dirty="0">
              <a:solidFill>
                <a:srgbClr val="00206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097163642"/>
              </p:ext>
            </p:extLst>
          </p:nvPr>
        </p:nvGraphicFramePr>
        <p:xfrm>
          <a:off x="304800" y="1276351"/>
          <a:ext cx="8534400" cy="2572867"/>
        </p:xfrm>
        <a:graphic>
          <a:graphicData uri="http://schemas.openxmlformats.org/drawingml/2006/table">
            <a:tbl>
              <a:tblPr firstRow="1" bandRow="1">
                <a:tableStyleId>{616DA210-FB5B-4158-B5E0-FEB733F419BA}</a:tableStyleId>
              </a:tblPr>
              <a:tblGrid>
                <a:gridCol w="914400">
                  <a:extLst>
                    <a:ext uri="{9D8B030D-6E8A-4147-A177-3AD203B41FA5}">
                      <a16:colId xmlns:a16="http://schemas.microsoft.com/office/drawing/2014/main" val="1290627007"/>
                    </a:ext>
                  </a:extLst>
                </a:gridCol>
                <a:gridCol w="2133600">
                  <a:extLst>
                    <a:ext uri="{9D8B030D-6E8A-4147-A177-3AD203B41FA5}">
                      <a16:colId xmlns:a16="http://schemas.microsoft.com/office/drawing/2014/main" val="3456084897"/>
                    </a:ext>
                  </a:extLst>
                </a:gridCol>
                <a:gridCol w="2209800">
                  <a:extLst>
                    <a:ext uri="{9D8B030D-6E8A-4147-A177-3AD203B41FA5}">
                      <a16:colId xmlns:a16="http://schemas.microsoft.com/office/drawing/2014/main" val="1300802302"/>
                    </a:ext>
                  </a:extLst>
                </a:gridCol>
                <a:gridCol w="3276600">
                  <a:extLst>
                    <a:ext uri="{9D8B030D-6E8A-4147-A177-3AD203B41FA5}">
                      <a16:colId xmlns:a16="http://schemas.microsoft.com/office/drawing/2014/main" val="4195811346"/>
                    </a:ext>
                  </a:extLst>
                </a:gridCol>
              </a:tblGrid>
              <a:tr h="384020">
                <a:tc>
                  <a:txBody>
                    <a:bodyPr/>
                    <a:lstStyle/>
                    <a:p>
                      <a:pPr algn="ctr"/>
                      <a:r>
                        <a:rPr lang="en-US" sz="1600" dirty="0" err="1">
                          <a:latin typeface="Times New Roman" panose="02020603050405020304" pitchFamily="18" charset="0"/>
                          <a:cs typeface="Times New Roman" panose="02020603050405020304" pitchFamily="18" charset="0"/>
                        </a:rPr>
                        <a:t>Sl</a:t>
                      </a:r>
                      <a:r>
                        <a:rPr lang="en-US" sz="1600" dirty="0">
                          <a:latin typeface="Times New Roman" panose="02020603050405020304" pitchFamily="18" charset="0"/>
                          <a:cs typeface="Times New Roman" panose="02020603050405020304" pitchFamily="18" charset="0"/>
                        </a:rPr>
                        <a:t> no.</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Paper/Article</a:t>
                      </a:r>
                      <a:r>
                        <a:rPr lang="en-US" sz="1600" baseline="0" dirty="0">
                          <a:latin typeface="Times New Roman" panose="02020603050405020304" pitchFamily="18" charset="0"/>
                          <a:cs typeface="Times New Roman" panose="02020603050405020304" pitchFamily="18" charset="0"/>
                        </a:rPr>
                        <a:t> title</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Publication</a:t>
                      </a:r>
                      <a:r>
                        <a:rPr lang="en-US" sz="1600" baseline="0" dirty="0">
                          <a:latin typeface="Times New Roman" panose="02020603050405020304" pitchFamily="18" charset="0"/>
                          <a:cs typeface="Times New Roman" panose="02020603050405020304" pitchFamily="18" charset="0"/>
                        </a:rPr>
                        <a:t> details</a:t>
                      </a:r>
                      <a:endParaRPr lang="en-IN" sz="1600" dirty="0">
                        <a:latin typeface="Times New Roman" panose="02020603050405020304" pitchFamily="18" charset="0"/>
                        <a:cs typeface="Times New Roman" panose="02020603050405020304" pitchFamily="18" charset="0"/>
                      </a:endParaRPr>
                    </a:p>
                  </a:txBody>
                  <a:tcPr/>
                </a:tc>
                <a:tc>
                  <a:txBody>
                    <a:bodyPr/>
                    <a:lstStyle/>
                    <a:p>
                      <a:pPr algn="ctr"/>
                      <a:r>
                        <a:rPr lang="en-US" sz="1600" dirty="0">
                          <a:latin typeface="Times New Roman" panose="02020603050405020304" pitchFamily="18" charset="0"/>
                          <a:cs typeface="Times New Roman" panose="02020603050405020304" pitchFamily="18" charset="0"/>
                        </a:rPr>
                        <a:t>Result</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080484553"/>
                  </a:ext>
                </a:extLst>
              </a:tr>
              <a:tr h="520852">
                <a:tc>
                  <a:txBody>
                    <a:bodyPr/>
                    <a:lstStyle/>
                    <a:p>
                      <a:r>
                        <a:rPr lang="en-IN" dirty="0"/>
                        <a:t>1</a:t>
                      </a:r>
                    </a:p>
                  </a:txBody>
                  <a:tcPr/>
                </a:tc>
                <a:tc>
                  <a:txBody>
                    <a:bodyPr/>
                    <a:lstStyle/>
                    <a:p>
                      <a:pPr>
                        <a:buNone/>
                      </a:pPr>
                      <a:r>
                        <a:rPr lang="en-US" sz="1600" dirty="0">
                          <a:latin typeface="Times New Roman" panose="02020603050405020304" pitchFamily="18" charset="0"/>
                          <a:cs typeface="Times New Roman" panose="02020603050405020304" pitchFamily="18" charset="0"/>
                        </a:rPr>
                        <a:t>LoRa Based Emergency System</a:t>
                      </a:r>
                    </a:p>
                  </a:txBody>
                  <a:tcPr anchor="ctr"/>
                </a:tc>
                <a:tc>
                  <a:txBody>
                    <a:bodyPr/>
                    <a:lstStyle/>
                    <a:p>
                      <a:r>
                        <a:rPr lang="en-US" sz="1600" dirty="0">
                          <a:latin typeface="Times New Roman" panose="02020603050405020304" pitchFamily="18" charset="0"/>
                          <a:cs typeface="Times New Roman" panose="02020603050405020304" pitchFamily="18" charset="0"/>
                        </a:rPr>
                        <a:t>IEEE Journal, 2023</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Achieved long-range communication</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22585239"/>
                  </a:ext>
                </a:extLst>
              </a:tr>
              <a:tr h="662828">
                <a:tc>
                  <a:txBody>
                    <a:bodyPr/>
                    <a:lstStyle/>
                    <a:p>
                      <a:r>
                        <a:rPr lang="en-IN" dirty="0"/>
                        <a:t>2</a:t>
                      </a:r>
                    </a:p>
                  </a:txBody>
                  <a:tcPr/>
                </a:tc>
                <a:tc>
                  <a:txBody>
                    <a:bodyPr/>
                    <a:lstStyle/>
                    <a:p>
                      <a:r>
                        <a:rPr lang="en-US" sz="1600" dirty="0"/>
                        <a:t>Wireless Alert Communication</a:t>
                      </a:r>
                      <a:endParaRPr lang="en-IN" sz="1600" dirty="0"/>
                    </a:p>
                  </a:txBody>
                  <a:tcPr/>
                </a:tc>
                <a:tc>
                  <a:txBody>
                    <a:bodyPr/>
                    <a:lstStyle/>
                    <a:p>
                      <a:r>
                        <a:rPr lang="en-US" sz="1600" dirty="0"/>
                        <a:t>International Conference, 2022</a:t>
                      </a:r>
                      <a:endParaRPr lang="en-IN" sz="1600" dirty="0"/>
                    </a:p>
                  </a:txBody>
                  <a:tcPr/>
                </a:tc>
                <a:tc>
                  <a:txBody>
                    <a:bodyPr/>
                    <a:lstStyle/>
                    <a:p>
                      <a:r>
                        <a:rPr lang="en-US" sz="1600" dirty="0"/>
                        <a:t>Improved emergency response</a:t>
                      </a:r>
                      <a:endParaRPr lang="en-IN" sz="1600" dirty="0"/>
                    </a:p>
                  </a:txBody>
                  <a:tcPr/>
                </a:tc>
                <a:extLst>
                  <a:ext uri="{0D108BD9-81ED-4DB2-BD59-A6C34878D82A}">
                    <a16:rowId xmlns:a16="http://schemas.microsoft.com/office/drawing/2014/main" val="1627040859"/>
                  </a:ext>
                </a:extLst>
              </a:tr>
              <a:tr h="946899">
                <a:tc>
                  <a:txBody>
                    <a:bodyPr/>
                    <a:lstStyle/>
                    <a:p>
                      <a:r>
                        <a:rPr lang="en-IN" dirty="0"/>
                        <a:t>3</a:t>
                      </a:r>
                    </a:p>
                  </a:txBody>
                  <a:tcPr/>
                </a:tc>
                <a:tc>
                  <a:txBody>
                    <a:bodyPr/>
                    <a:lstStyle/>
                    <a:p>
                      <a:r>
                        <a:rPr lang="en-US" sz="1600" dirty="0"/>
                        <a:t>IoT Safety Communication Device</a:t>
                      </a:r>
                      <a:endParaRPr lang="en-IN" sz="1600" dirty="0"/>
                    </a:p>
                  </a:txBody>
                  <a:tcPr/>
                </a:tc>
                <a:tc>
                  <a:txBody>
                    <a:bodyPr/>
                    <a:lstStyle/>
                    <a:p>
                      <a:r>
                        <a:rPr lang="en-US" sz="1600" dirty="0"/>
                        <a:t>Research Paper, 2024</a:t>
                      </a:r>
                      <a:endParaRPr lang="en-IN" sz="1600" dirty="0"/>
                    </a:p>
                  </a:txBody>
                  <a:tcPr/>
                </a:tc>
                <a:tc>
                  <a:txBody>
                    <a:bodyPr/>
                    <a:lstStyle/>
                    <a:p>
                      <a:r>
                        <a:rPr lang="en-US" sz="1600" dirty="0"/>
                        <a:t>Reliable low-power message transfer</a:t>
                      </a:r>
                    </a:p>
                  </a:txBody>
                  <a:tcPr/>
                </a:tc>
                <a:extLst>
                  <a:ext uri="{0D108BD9-81ED-4DB2-BD59-A6C34878D82A}">
                    <a16:rowId xmlns:a16="http://schemas.microsoft.com/office/drawing/2014/main" val="232549778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362710" algn="just">
              <a:lnSpc>
                <a:spcPct val="100000"/>
              </a:lnSpc>
              <a:spcBef>
                <a:spcPts val="105"/>
              </a:spcBef>
            </a:pPr>
            <a:r>
              <a:rPr dirty="0">
                <a:solidFill>
                  <a:srgbClr val="002060"/>
                </a:solidFill>
              </a:rPr>
              <a:t>Problem</a:t>
            </a:r>
            <a:r>
              <a:rPr spc="-70" dirty="0">
                <a:solidFill>
                  <a:srgbClr val="002060"/>
                </a:solidFill>
              </a:rPr>
              <a:t> </a:t>
            </a:r>
            <a:r>
              <a:rPr lang="en-US" spc="-10" dirty="0">
                <a:solidFill>
                  <a:srgbClr val="002060"/>
                </a:solidFill>
              </a:rPr>
              <a:t>Statement</a:t>
            </a:r>
            <a:endParaRPr spc="-10" dirty="0">
              <a:solidFill>
                <a:srgbClr val="002060"/>
              </a:solidFill>
            </a:endParaRPr>
          </a:p>
        </p:txBody>
      </p:sp>
      <p:sp>
        <p:nvSpPr>
          <p:cNvPr id="5" name="TextBox 4">
            <a:extLst>
              <a:ext uri="{FF2B5EF4-FFF2-40B4-BE49-F238E27FC236}">
                <a16:creationId xmlns:a16="http://schemas.microsoft.com/office/drawing/2014/main" id="{3305403E-2D0C-0A10-86E2-4202BEEEC4D1}"/>
              </a:ext>
            </a:extLst>
          </p:cNvPr>
          <p:cNvSpPr txBox="1"/>
          <p:nvPr/>
        </p:nvSpPr>
        <p:spPr>
          <a:xfrm>
            <a:off x="609600" y="1200150"/>
            <a:ext cx="7924800" cy="3046988"/>
          </a:xfrm>
          <a:prstGeom prst="rect">
            <a:avLst/>
          </a:prstGeom>
          <a:noFill/>
        </p:spPr>
        <p:txBody>
          <a:bodyPr wrap="square">
            <a:spAutoFit/>
          </a:bodyPr>
          <a:lstStyle/>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Lack of communication in remote areas during emergencies can delay help and rescue operations.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Mobile networks and internet services may fail during natural disasters or accidents.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Existing emergency communication systems are expensive and not easily accessible to everyone. </a:t>
            </a:r>
          </a:p>
          <a:p>
            <a:pPr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 is a need for a low-cost, reliable, and long-range wireless alert system like Aether Link.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3400" y="438150"/>
            <a:ext cx="6662115" cy="514350"/>
          </a:xfrm>
          <a:prstGeom prst="rect">
            <a:avLst/>
          </a:prstGeom>
        </p:spPr>
        <p:txBody>
          <a:bodyPr vert="horz" wrap="square" lIns="0" tIns="13335" rIns="0" bIns="0" rtlCol="0">
            <a:spAutoFit/>
          </a:bodyPr>
          <a:lstStyle/>
          <a:p>
            <a:pPr marL="1021715" algn="ctr">
              <a:lnSpc>
                <a:spcPct val="100000"/>
              </a:lnSpc>
              <a:spcBef>
                <a:spcPts val="105"/>
              </a:spcBef>
            </a:pPr>
            <a:r>
              <a:rPr lang="en-US" dirty="0">
                <a:solidFill>
                  <a:srgbClr val="002060"/>
                </a:solidFill>
              </a:rPr>
              <a:t>Objectives </a:t>
            </a:r>
            <a:endParaRPr spc="-10" dirty="0">
              <a:solidFill>
                <a:srgbClr val="002060"/>
              </a:solidFill>
            </a:endParaRPr>
          </a:p>
        </p:txBody>
      </p:sp>
      <p:sp>
        <p:nvSpPr>
          <p:cNvPr id="8" name="TextBox 7">
            <a:extLst>
              <a:ext uri="{FF2B5EF4-FFF2-40B4-BE49-F238E27FC236}">
                <a16:creationId xmlns:a16="http://schemas.microsoft.com/office/drawing/2014/main" id="{F41190D2-0DF9-9303-ED69-6687D4819F5A}"/>
              </a:ext>
            </a:extLst>
          </p:cNvPr>
          <p:cNvSpPr txBox="1"/>
          <p:nvPr/>
        </p:nvSpPr>
        <p:spPr>
          <a:xfrm>
            <a:off x="685800" y="1200150"/>
            <a:ext cx="7620000" cy="31700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and development of a reliable long-range wireless communication system using LoRa technology.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Quick transmission of predefined emergency messages during critical situations.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Communication support for remote areas where internet and mobile networks are unavailable.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 low-cost, low-power, and portable emergency communication device using ESP32 modules.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Improvement of public safety through faster emergency response and alert notification.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35940" y="364312"/>
            <a:ext cx="8227060" cy="505908"/>
          </a:xfrm>
          <a:prstGeom prst="rect">
            <a:avLst/>
          </a:prstGeom>
        </p:spPr>
        <p:txBody>
          <a:bodyPr vert="horz" wrap="square" lIns="0" tIns="13335" rIns="0" bIns="0" rtlCol="0">
            <a:spAutoFit/>
          </a:bodyPr>
          <a:lstStyle/>
          <a:p>
            <a:pPr marL="958850">
              <a:lnSpc>
                <a:spcPct val="100000"/>
              </a:lnSpc>
              <a:spcBef>
                <a:spcPts val="105"/>
              </a:spcBef>
            </a:pPr>
            <a:r>
              <a:rPr lang="en-US" dirty="0">
                <a:solidFill>
                  <a:srgbClr val="002060"/>
                </a:solidFill>
              </a:rPr>
              <a:t>Workflow Diagram / </a:t>
            </a:r>
            <a:r>
              <a:rPr lang="en-IN" spc="-10" dirty="0">
                <a:solidFill>
                  <a:srgbClr val="002060"/>
                </a:solidFill>
              </a:rPr>
              <a:t>Working</a:t>
            </a:r>
            <a:r>
              <a:rPr lang="en-IN" spc="-140" dirty="0">
                <a:solidFill>
                  <a:srgbClr val="002060"/>
                </a:solidFill>
              </a:rPr>
              <a:t> </a:t>
            </a:r>
            <a:r>
              <a:rPr lang="en-IN" spc="-10" dirty="0">
                <a:solidFill>
                  <a:srgbClr val="002060"/>
                </a:solidFill>
              </a:rPr>
              <a:t>Principle</a:t>
            </a:r>
            <a:endParaRPr spc="-10" dirty="0">
              <a:solidFill>
                <a:srgbClr val="002060"/>
              </a:solidFill>
            </a:endParaRPr>
          </a:p>
        </p:txBody>
      </p:sp>
      <p:pic>
        <p:nvPicPr>
          <p:cNvPr id="5" name="Picture 4">
            <a:extLst>
              <a:ext uri="{FF2B5EF4-FFF2-40B4-BE49-F238E27FC236}">
                <a16:creationId xmlns:a16="http://schemas.microsoft.com/office/drawing/2014/main" id="{A5889D66-4766-592C-3109-545FDA1609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375" y="0"/>
            <a:ext cx="7715250" cy="51435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1283970">
              <a:lnSpc>
                <a:spcPct val="100000"/>
              </a:lnSpc>
              <a:spcBef>
                <a:spcPts val="105"/>
              </a:spcBef>
            </a:pPr>
            <a:r>
              <a:rPr dirty="0">
                <a:solidFill>
                  <a:srgbClr val="002060"/>
                </a:solidFill>
              </a:rPr>
              <a:t>Prototype</a:t>
            </a:r>
            <a:r>
              <a:rPr spc="-80" dirty="0">
                <a:solidFill>
                  <a:srgbClr val="002060"/>
                </a:solidFill>
              </a:rPr>
              <a:t> </a:t>
            </a:r>
            <a:r>
              <a:rPr spc="-10" dirty="0">
                <a:solidFill>
                  <a:srgbClr val="002060"/>
                </a:solidFill>
              </a:rPr>
              <a:t>Development</a:t>
            </a:r>
          </a:p>
        </p:txBody>
      </p:sp>
      <p:sp>
        <p:nvSpPr>
          <p:cNvPr id="3" name="object 3"/>
          <p:cNvSpPr txBox="1"/>
          <p:nvPr/>
        </p:nvSpPr>
        <p:spPr>
          <a:xfrm>
            <a:off x="533400" y="1047750"/>
            <a:ext cx="8227060" cy="3318857"/>
          </a:xfrm>
          <a:prstGeom prst="rect">
            <a:avLst/>
          </a:prstGeom>
        </p:spPr>
        <p:txBody>
          <a:bodyPr vert="horz" wrap="square" lIns="0" tIns="12700" rIns="0" bIns="0" rtlCol="0">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Selection of ESP32, LoRa module, 4×4 keypad, LCD display, buzzer, and LED components for system development.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Design and assembly of transmitter and receiver units using proper circuit connections and power supply.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Programming of ESP32 modules for message transmission and reception through LoRa communication.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keypad input, LCD message display, and alert indications for emergency notification.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Testing and debugging of wireless communication range, message accuracy, and system performance. </a:t>
            </a:r>
          </a:p>
          <a:p>
            <a:pPr marL="12700">
              <a:lnSpc>
                <a:spcPct val="100000"/>
              </a:lnSpc>
              <a:spcBef>
                <a:spcPts val="100"/>
              </a:spcBef>
              <a:tabLst>
                <a:tab pos="355600" algn="l"/>
              </a:tabLst>
            </a:pPr>
            <a:endParaRPr sz="14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361950"/>
            <a:ext cx="1883258" cy="492443"/>
          </a:xfrm>
        </p:spPr>
        <p:txBody>
          <a:bodyPr/>
          <a:lstStyle/>
          <a:p>
            <a:pPr algn="ctr"/>
            <a:r>
              <a:rPr lang="en-US" dirty="0">
                <a:solidFill>
                  <a:schemeClr val="tx2">
                    <a:lumMod val="50000"/>
                  </a:schemeClr>
                </a:solidFill>
              </a:rPr>
              <a:t>Results</a:t>
            </a:r>
          </a:p>
        </p:txBody>
      </p:sp>
      <p:sp>
        <p:nvSpPr>
          <p:cNvPr id="4" name="object 3"/>
          <p:cNvSpPr txBox="1"/>
          <p:nvPr/>
        </p:nvSpPr>
        <p:spPr>
          <a:xfrm>
            <a:off x="457200" y="1006835"/>
            <a:ext cx="8001000" cy="3103414"/>
          </a:xfrm>
          <a:prstGeom prst="rect">
            <a:avLst/>
          </a:prstGeom>
        </p:spPr>
        <p:txBody>
          <a:bodyPr vert="horz" wrap="square" lIns="0" tIns="12700" rIns="0" bIns="0" rtlCol="0">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Successful transmission and reception of emergency messages using LoRa wireless communication.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Reliable long-range communication achieved without the use of internet or mobile networks.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Proper display of received messages on the LCD screen with LED and buzzer alert indications.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Smooth functioning of keypad-based message selection and transmission using ESP32 modules.</a:t>
            </a:r>
          </a:p>
          <a:p>
            <a:pPr marL="12700" algn="just">
              <a:lnSpc>
                <a:spcPct val="100000"/>
              </a:lnSpc>
              <a:spcBef>
                <a:spcPts val="100"/>
              </a:spcBef>
              <a:tabLst>
                <a:tab pos="355600" algn="l"/>
              </a:tabLst>
            </a:pPr>
            <a:endParaRPr sz="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0254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2358390">
              <a:lnSpc>
                <a:spcPct val="100000"/>
              </a:lnSpc>
              <a:spcBef>
                <a:spcPts val="105"/>
              </a:spcBef>
            </a:pPr>
            <a:r>
              <a:rPr spc="-10" dirty="0">
                <a:solidFill>
                  <a:srgbClr val="002060"/>
                </a:solidFill>
              </a:rPr>
              <a:t>Conclusion</a:t>
            </a:r>
          </a:p>
        </p:txBody>
      </p:sp>
      <p:sp>
        <p:nvSpPr>
          <p:cNvPr id="6" name="TextBox 5">
            <a:extLst>
              <a:ext uri="{FF2B5EF4-FFF2-40B4-BE49-F238E27FC236}">
                <a16:creationId xmlns:a16="http://schemas.microsoft.com/office/drawing/2014/main" id="{53A6DE1C-E8F1-587C-156B-F1DDE8061662}"/>
              </a:ext>
            </a:extLst>
          </p:cNvPr>
          <p:cNvSpPr txBox="1"/>
          <p:nvPr/>
        </p:nvSpPr>
        <p:spPr>
          <a:xfrm>
            <a:off x="495299" y="1021709"/>
            <a:ext cx="8153400" cy="304698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Aether Link successfully provides long-range wireless emergency communication using LoRa technology.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enables quick transmission of emergency messages without internet or mobile network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ESP32, keypad, LCD, LED, and buzzer ensured reliable and effective system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prototype proved to be low-cost, portable, and suitable for real-time emergency situations.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3335" rIns="0" bIns="0" rtlCol="0">
            <a:spAutoFit/>
          </a:bodyPr>
          <a:lstStyle/>
          <a:p>
            <a:pPr marL="2383790">
              <a:lnSpc>
                <a:spcPct val="100000"/>
              </a:lnSpc>
              <a:spcBef>
                <a:spcPts val="105"/>
              </a:spcBef>
            </a:pPr>
            <a:r>
              <a:rPr spc="-10" dirty="0">
                <a:solidFill>
                  <a:srgbClr val="002060"/>
                </a:solidFill>
              </a:rPr>
              <a:t>References</a:t>
            </a:r>
          </a:p>
        </p:txBody>
      </p:sp>
      <p:sp>
        <p:nvSpPr>
          <p:cNvPr id="3" name="object 3"/>
          <p:cNvSpPr txBox="1"/>
          <p:nvPr/>
        </p:nvSpPr>
        <p:spPr>
          <a:xfrm>
            <a:off x="535940" y="1223009"/>
            <a:ext cx="6322060" cy="2241639"/>
          </a:xfrm>
          <a:prstGeom prst="rect">
            <a:avLst/>
          </a:prstGeom>
        </p:spPr>
        <p:txBody>
          <a:bodyPr vert="horz" wrap="square" lIns="0" tIns="12700" rIns="0" bIns="0"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IEEE Papers on LoRa Communication.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ESP32 Technical Manual.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Arduino IDE Documentation.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IoT Emergency Alert System Journal.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Wireless Communication Research Papers.</a:t>
            </a:r>
          </a:p>
          <a:p>
            <a:pPr marL="355600" indent="-342900">
              <a:lnSpc>
                <a:spcPct val="100000"/>
              </a:lnSpc>
              <a:spcBef>
                <a:spcPts val="100"/>
              </a:spcBef>
              <a:buFont typeface="Wingdings"/>
              <a:buChar char=""/>
              <a:tabLst>
                <a:tab pos="355600" algn="l"/>
              </a:tabLst>
            </a:pPr>
            <a:endParaRPr sz="24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TotalTime>
  <Words>627</Words>
  <Application>Microsoft Office PowerPoint</Application>
  <PresentationFormat>On-screen Show (16:9)</PresentationFormat>
  <Paragraphs>71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Times New Roman</vt:lpstr>
      <vt:lpstr>Wingdings</vt:lpstr>
      <vt:lpstr>Office Theme</vt:lpstr>
      <vt:lpstr>Jain College of Engineering &amp; Research,</vt:lpstr>
      <vt:lpstr>Introduction to Problem Area</vt:lpstr>
      <vt:lpstr>Literature Survey</vt:lpstr>
      <vt:lpstr>Problem Statement</vt:lpstr>
      <vt:lpstr>Objectives </vt:lpstr>
      <vt:lpstr>Workflow Diagram / Working Principle</vt:lpstr>
      <vt:lpstr>Prototype Development</vt:lpstr>
      <vt:lpstr>Results</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Jain College of Engineering &amp; Research,  Udyambag, Belagavi NBA Accredited Programs: ECE &amp; MECH</dc:title>
  <dc:creator>DELL</dc:creator>
  <cp:lastModifiedBy>KRITIKA KHARGE</cp:lastModifiedBy>
  <cp:revision>5</cp:revision>
  <dcterms:created xsi:type="dcterms:W3CDTF">2026-05-08T05:55:40Z</dcterms:created>
  <dcterms:modified xsi:type="dcterms:W3CDTF">2026-07-28T07:00:11Z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2025-12-01T00:00:00Z</vt:filetime>
  </property>
  <property fmtid="{D5CDD505-2E9C-101B-9397-08002B2CF9AE}" pid="3" name="Creator">
    <vt:lpwstr>Microsoft® PowerPoint® 2010</vt:lpwstr>
  </property>
  <property fmtid="{D5CDD505-2E9C-101B-9397-08002B2CF9AE}" pid="4" name="LastSaved">
    <vt:filetime>2026-05-08T00:00:00Z</vt:filetime>
  </property>
  <property fmtid="{D5CDD505-2E9C-101B-9397-08002B2CF9AE}" pid="5" name="Producer">
    <vt:lpwstr>Microsoft® PowerPoint® 2010</vt:lpwstr>
  </property>
</Properties>
</file>